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[0:00–0:45 · 45초]</a:t>
            </a:r>
          </a:p>
          <a:p>
            <a:r>
              <a:t>안녕하세요, M1팀입니다. 저희는 '매출분석 툴'을 만들었습니다.</a:t>
            </a:r>
          </a:p>
          <a:p>
            <a:r>
              <a:t>매출 CSV를 올리면 지표는 코드가 계산하고, AI는 그 결과를 쉬운 말로 해석해 줍니다.</a:t>
            </a:r>
          </a:p>
          <a:p>
            <a:r>
              <a:t>한 문장으로 말씀드리면, "매출이 왜 떨어졌는지 데이터로 답해 주는 도구"입니다.</a:t>
            </a:r>
          </a:p>
          <a:p>
            <a:r>
              <a:t>문제, 해결 방법, 역할과 일정, 시연, 품질과 한계 순서로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[0:45–1:45 · 1분]</a:t>
            </a:r>
          </a:p>
          <a:p>
            <a:r>
              <a:t>쇼핑몰을 운영하면 "이번 달 매출이 왜 떨어졌지?"라는 질문을 자주 하게 됩니다.</a:t>
            </a:r>
          </a:p>
          <a:p>
            <a:r>
              <a:t>그런데 바로 답하기 어려운 이유가 세 가지 있습니다.</a:t>
            </a:r>
          </a:p>
          <a:p>
            <a:r>
              <a:t>첫째, 쿠팡 · 네이버스토어 · 자사몰, 제품 20종의 숫자가 한 파일에 섞여 있어 어느 쪽이 줄었는지 눈으로 찾기 어렵습니다.</a:t>
            </a:r>
          </a:p>
          <a:p>
            <a:r>
              <a:t>둘째, 광고비 · 방문 · 구매전환율 · ROAS를 따로 보면 원인이 안 보이고 이어서 봐야 합니다.</a:t>
            </a:r>
          </a:p>
          <a:p>
            <a:r>
              <a:t>셋째, 이 계산을 AI에게 통째로 맡기면 틀리거나 지어낼 수 있습니다. 같은 입력에 같은 숫자가 나와야 하는데 말이죠.</a:t>
            </a:r>
          </a:p>
          <a:p>
            <a:r>
              <a:t>그래서 저희는 일을 둘로 나눴습니다.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[1:45–2:30 · 45초]</a:t>
            </a:r>
          </a:p>
          <a:p>
            <a:r>
              <a:t>저희 원칙은 "계산은 코드, 해석은 AI"입니다.</a:t>
            </a:r>
          </a:p>
          <a:p>
            <a:r>
              <a:t>첫째, 숫자는 코드가 정해진 공식으로 계산합니다. 같은 입력이면 늘 같은 숫자입니다.</a:t>
            </a:r>
          </a:p>
          <a:p>
            <a:r>
              <a:t>둘째, AI는 계산이 끝난 결과만 받아서 해석합니다. 숫자를 다시 계산하지 않습니다.</a:t>
            </a:r>
          </a:p>
          <a:p>
            <a:r>
              <a:t>셋째, 사실과 추정을 나눕니다. AI 답변은 확인된 사실, 원인 후보, 실행 제안, 한계로 나눠 보여 주고,</a:t>
            </a:r>
          </a:p>
          <a:p>
            <a:r>
              <a:t>원인은 확정하지 않고 '후보'로만 말하게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[2:30–3:15 · 45초]</a:t>
            </a:r>
          </a:p>
          <a:p>
            <a:r>
              <a:t>다섯 명이 한 흐름에서 한 칸씩 맡았습니다.</a:t>
            </a:r>
          </a:p>
          <a:p>
            <a:r>
              <a:t>지연님이 PM과 문서 · 저장소 관리, 규현님이 로그인 · DB · 권한 · 결제,</a:t>
            </a:r>
          </a:p>
          <a:p>
            <a:r>
              <a:t>보겸님이 더미 데이터와 정답 시나리오, 성순님이 지표 계산과 AI 분석 서버,</a:t>
            </a:r>
          </a:p>
          <a:p>
            <a:r>
              <a:t>두규님이 대시보드와 화면 디자인을 맡았습니다.</a:t>
            </a:r>
          </a:p>
          <a:p>
            <a:r>
              <a:t>각자 폴더를 따로 두고 브랜치와 PR로 합쳐서, 서로의 코드를 덮어쓰지 않게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[3:15–4:00 · 45초]</a:t>
            </a:r>
          </a:p>
          <a:p>
            <a:r>
              <a:t>일정은 5일이었습니다.</a:t>
            </a:r>
          </a:p>
          <a:p>
            <a:r>
              <a:t>월요일에 주제와 역할, 문서 틀을 정했고, 화요일 하루에 파트별로 1차 완성해 PR 다섯 개로 올렸습니다.</a:t>
            </a:r>
          </a:p>
          <a:p>
            <a:r>
              <a:t>수요일에는 팀 저장소로 모아 전체 합치기를 시험하고, 로그인을 연결하고, AI 오류 원인을 추적했습니다.</a:t>
            </a:r>
          </a:p>
          <a:p>
            <a:r>
              <a:t>목요일에는 대시보드 2차 버전과 CSV 기준 정리, PR 병합과 배포를 마쳤고, 오늘 오전 10시에 제출했습니다.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[4:00–5:00 · 1분]</a:t>
            </a:r>
          </a:p>
          <a:p>
            <a:r>
              <a:t>화면 하나 안에서 다섯 파트가 차례로 이어집니다.</a:t>
            </a:r>
          </a:p>
          <a:p>
            <a:r>
              <a:t>먼저 로그인해야 화면이 열립니다. CSV는 월별 파일 여러 개를 한 번에 올릴 수 있고, 잘못된 파일이면 이유를 안내합니다.</a:t>
            </a:r>
          </a:p>
          <a:p>
            <a:r>
              <a:t>올린 데이터는 4번 엔진이 월별 · 채널별 지표와 경쟁가 진단으로 계산하고, 대시보드가 KPI와 차트로 보여 줍니다.</a:t>
            </a:r>
          </a:p>
          <a:p>
            <a:r>
              <a:t>질문하면 먼저 분석 계획 카드가 나오고, [승인]을 눌러야만 AI 서버를 부릅니다.</a:t>
            </a:r>
          </a:p>
          <a:p>
            <a:r>
              <a:t>AI 키는 서버에만 있고, AI는 계산이 끝난 결과만 받습니다.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[5:00–5:45 · 45초]</a:t>
            </a:r>
          </a:p>
          <a:p>
            <a:r>
              <a:t>시험용으로 정답을 미리 숨겨 둔 가상 쇼핑몰 데이터를 만들었습니다.</a:t>
            </a:r>
          </a:p>
          <a:p>
            <a:r>
              <a:t>건강보조식품 20종, 판매 채널 3곳, 6월부터 9월까지 1,200행입니다.</a:t>
            </a:r>
          </a:p>
          <a:p>
            <a:r>
              <a:t>숨겨 둔 이야기는 이렇습니다. 9월 초 쿠팡에 경쟁 셀러가 들어와 우리 인기 제품 8개를 더 싸게 팔았고,</a:t>
            </a:r>
          </a:p>
          <a:p>
            <a:r>
              <a:t>쿠팡 광고비를 늘렸는데도 쿠팡 구매전환율이 5.16%에서 2.43%로 떨어졌습니다.</a:t>
            </a:r>
          </a:p>
          <a:p>
            <a:r>
              <a:t>도구가 이 이야기를 찾아내는지, 추석 같은 함정에 속지 않는지로 정답을 판단합니다.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[5:45–6:45 · 1분]</a:t>
            </a:r>
          </a:p>
          <a:p>
            <a:r>
              <a:t>도구가 찾아낸 숫자입니다. 정답표와 모두 같습니다.</a:t>
            </a:r>
          </a:p>
          <a:p>
            <a:r>
              <a:t>9월 매출은 2,735만 원으로 전월보다 31.45% 줄었습니다.</a:t>
            </a:r>
          </a:p>
          <a:p>
            <a:r>
              <a:t>하락액의 92.7%가 쿠팡에서 나왔고, 쿠팡 ROAS는 2.97배로 떨어졌습니다.</a:t>
            </a:r>
          </a:p>
          <a:p>
            <a:r>
              <a:t>전체 ROAS는 3.95배, 구매전환율은 2.99%입니다.</a:t>
            </a:r>
          </a:p>
          <a:p>
            <a:r>
              <a:t>핵심은 이 줄입니다. 광고비는 23% 늘렸고 방문은 0.9%로 그대로였는데, 구매가 줄었습니다.</a:t>
            </a:r>
          </a:p>
          <a:p>
            <a:r>
              <a:t>즉, 손님이 안 온 게 아니라 와서 사지 않았다 — 유입이 아니라 전환의 문제입니다. 이제 실제 화면으로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[6:45–10:45 · 4분, 시연]</a:t>
            </a:r>
          </a:p>
          <a:p>
            <a:r>
              <a:t>[준비] 배포 주소(화면 아래)를 미리 열어 두고, 발표자 본인 계정으로 로그인해 둡니다. AI 분석은 계정당 하루 한도가 있으니 리허설에서 다 쓰지 않게 합니다.</a:t>
            </a:r>
          </a:p>
          <a:p>
            <a:r>
              <a:t>(1) 로그인합니다. 로그인 전에는 화면이 가려져 있습니다. (20초)</a:t>
            </a:r>
          </a:p>
          <a:p>
            <a:r>
              <a:t>(2) [예시 데이터로 시작]을 누르면 맨 위에 결론이 먼저 나옵니다. "9월 매출 31.5% 감소, 손님은 그대로인데 사지 않았다."</a:t>
            </a:r>
          </a:p>
          <a:p>
            <a:r>
              <a:t>    아래 분해 줄 — 매출 = 방문 × 구매전환율 × 객단가 — 에서 구매전환율 칸이 '여기서 무너짐'으로 표시됩니다. KPI 칸의 매출 · ROAS · 구매전환율은 앞 장 숫자와 같습니다. (50초)</a:t>
            </a:r>
          </a:p>
          <a:p>
            <a:r>
              <a:t>(3) 판매 채널별 ROAS에서 쿠팡이 가장 크게 떨어졌고(-66%), 아래 경쟁가 진단에 우리보다 싸게 파는 제품 8개가 나옵니다. (30초)</a:t>
            </a:r>
          </a:p>
          <a:p>
            <a:r>
              <a:t>(4) "광고비는 늘었는데 왜 매출이 안 늘었어?"라고 물으면 분석 계획 카드가 먼저 나옵니다. 아직 AI를 부르지 않았고, 승인해야 부릅니다. (30초)</a:t>
            </a:r>
          </a:p>
          <a:p>
            <a:r>
              <a:t>(5) [승인하고 분석]을 누르면 AI 답변이 확인된 사실 · 원인 후보 · 우선 액션으로 나뉘어 나옵니다. 원인 후보에는 '확정 아님' 표시가 붙습니다. (1분)</a:t>
            </a:r>
          </a:p>
          <a:p>
            <a:r>
              <a:t>(6) 마지막으로 잘못된 CSV를 올리면 계산하지 않고, 파일 이름 · 행 번호 · 열 이름으로 이유를 알려 줍니다.</a:t>
            </a:r>
          </a:p>
          <a:p>
            <a:r>
              <a:t>    판매 지표만 있는 CSV나 쿠팡 주문내역 원본도 올릴 수 있고, 없는 지표는 0이 아니라 '계산 불가'로 표시됩니다. (50초)</a:t>
            </a:r>
          </a:p>
          <a:p>
            <a:r>
              <a:t>[대비] AI 응답이 늦으면(보통 7~27초) 기다리는 동안 (6)을 먼저 보여 줍니다. 네트워크가 끊기면 실패 카드가 나오는 것도 '가짜 결과를 만들지 않는다'는 시연입니다.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[10:45–11:45 · 1분]</a:t>
            </a:r>
          </a:p>
          <a:p>
            <a:r>
              <a:t>실제 AI 답변 화면입니다. 9월 30일 로그인한 상태로 실제 서버를 불렀고, 12.2초 만에 응답했습니다.</a:t>
            </a:r>
          </a:p>
          <a:p>
            <a:r>
              <a:t>답변 속 숫자 — 31.5%, 32.8%, 33.4% 등 8개 — 는 모두 정답표 값 그대로였습니다. AI가 숫자를 새로 만들지 않았다는 뜻입니다.</a:t>
            </a:r>
          </a:p>
          <a:p>
            <a:r>
              <a:t>그리고 원인은 '후보'로만 말합니다. "인과관계는 확정할 수 없습니다"라는 문장이 답변에 들어 있습니다.</a:t>
            </a:r>
          </a:p>
          <a:p>
            <a:r>
              <a:t>추석이나 품절을 원인으로 단정하면 오답으로 정해 두었는데, 그런 단정은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[11:45–12:30 · 45초]</a:t>
            </a:r>
          </a:p>
          <a:p>
            <a:r>
              <a:t>"됐다"가 아니라 확인한 기록입니다.</a:t>
            </a:r>
          </a:p>
          <a:p>
            <a:r>
              <a:t>계산 정확도는 1,200행을 정답표와 대조해 190개 모두 일치했습니다.</a:t>
            </a:r>
          </a:p>
          <a:p>
            <a:r>
              <a:t>DB 권한은 A · B 두 계정으로 시험해 10개 모두 통과했습니다.</a:t>
            </a:r>
          </a:p>
          <a:p>
            <a:r>
              <a:t>잘못된 CSV는 필수 열 누락, 숫자 칸 글자, 빈 파일, 이미지 4가지를 안내합니다.</a:t>
            </a:r>
          </a:p>
          <a:p>
            <a:r>
              <a:t>승인 전이나 취소 후에는 AI 호출이 0회였고, PR들을 함께 합쳐 봐도 충돌이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[12:30–13:00 · 30초]</a:t>
            </a:r>
          </a:p>
          <a:p>
            <a:r>
              <a:t>보안은 세 가지입니다.</a:t>
            </a:r>
          </a:p>
          <a:p>
            <a:r>
              <a:t>AI 키와 결제 비밀키는 서버 Secret에만 있고, 브라우저에는 공개용 키만 있습니다.</a:t>
            </a:r>
          </a:p>
          <a:p>
            <a:r>
              <a:t>DB는 행 단위 권한(RLS)으로, 로그인한 사람은 자기 데이터만 읽고 씁니다.</a:t>
            </a:r>
          </a:p>
          <a:p>
            <a:r>
              <a:t>그리고 AI 답변에 태그가 섞여 와도 실행되지 않고 글자로만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[13:00–14:00 · 1분]</a:t>
            </a:r>
          </a:p>
          <a:p>
            <a:r>
              <a:t>아직 안 된 것도 숨기지 않겠습니다.</a:t>
            </a:r>
          </a:p>
          <a:p>
            <a:r>
              <a:t>로그인 상태로 AI 분석을 끝까지 해 보는 것은 9월 30일에 완료했습니다. 처음엔 400 오류가 났는데, 원인은 API 키의 크레딧이 0이었던 것이고 키를 바꿔 해결했습니다.</a:t>
            </a:r>
          </a:p>
          <a:p>
            <a:r>
              <a:t>남은 것은 이렇습니다. AI 답변이 정해진 형식이 아니라 글로 와서, 화면이 제목을 알아보고 나눠 보여 주고 있습니다 — 다음엔 형식 자체로 받겠습니다.</a:t>
            </a:r>
          </a:p>
          <a:p>
            <a:r>
              <a:t>결제는 토스 테스트 결제 왕복, 분석 결과 저장과 다른 계정 거부 테스트, 그리고 개발용으로 꺼 둔 이메일 인증이 다음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[14:00–14:30 · 30초, 이어서 질문 시간]</a:t>
            </a:r>
          </a:p>
          <a:p>
            <a:r>
              <a:t>들어 주셔서 감사합니다. 저장소와 체험 주소는 화면에 있습니다. 질문 받겠습니다.</a:t>
            </a:r>
          </a:p>
          <a:p>
            <a:r>
              <a:t>[예상 질문]</a:t>
            </a:r>
          </a:p>
          <a:p>
            <a:r>
              <a:t>· 왜 AI에게 계산을 안 맡겼나요? → 같은 입력에 같은 숫자가 나와야 해서입니다. 정답표 190개 모두 일치.</a:t>
            </a:r>
          </a:p>
          <a:p>
            <a:r>
              <a:t>· AI가 틀리면요? → 원인은 후보로만 말하고, 실패하면 가짜 결과 없이 실패 카드를 보여 줍니다.</a:t>
            </a:r>
          </a:p>
          <a:p>
            <a:r>
              <a:t>· 실제 데이터로도 쓸 수 있나요? → 날짜 · 상품 · 채널 3열만 있으면 올라가고, 쿠팡 주문내역 원본은 그대로 읽습니다. 없는 지표는 '계산 불가'로 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131A2E"/>
            </a:gs>
            <a:gs pos="55000">
              <a:srgbClr val="1F2C6B"/>
            </a:gs>
            <a:gs pos="100000">
              <a:srgbClr val="3346C9"/>
            </a:gs>
          </a:gsLst>
          <a:lin ang="228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685800"/>
            <a:ext cx="105640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DA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모두의연구소 AI 에이전트 2기 팀프로젝트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2148840"/>
            <a:ext cx="105640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매출분석 툴</a:t>
            </a:r>
            <a:endParaRPr lang="en-US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32918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CSV를 올리면 지표는 코드가 계산하고,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계산된 결과를 쉬운 말로 해석합니다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이지연 · 허규현 · 김보겸 · 김성순 · 이두규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34679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2026. 10. 2</a:t>
            </a:r>
            <a:endParaRPr lang="en-US" sz="1500" dirty="0"/>
          </a:p>
        </p:txBody>
      </p:sp>
      <p:pic>
        <p:nvPicPr>
          <p:cNvPr id="8" name="Picture 7" descr="cover_b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280" y="182880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566928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932688"/>
            <a:ext cx="10564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매출이 줄었을 때, 어디서 왜 줄었는지 바로 알기 어렵다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3816" y="2286000"/>
            <a:ext cx="3307994" cy="3429000"/>
          </a:xfrm>
          <a:prstGeom prst="roundRect">
            <a:avLst>
              <a:gd name="adj" fmla="val 3317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33856" y="2606040"/>
            <a:ext cx="502920" cy="502920"/>
          </a:xfrm>
          <a:prstGeom prst="ellipse">
            <a:avLst/>
          </a:prstGeom>
          <a:solidFill>
            <a:srgbClr val="5468FF"/>
          </a:solidFill>
          <a:ln w="12700">
            <a:solidFill>
              <a:srgbClr val="5468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33856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33856" y="3291840"/>
            <a:ext cx="26679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· 제품이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섞여 있다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133856" y="4160520"/>
            <a:ext cx="266791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· 네이버스토어 · 자사몰,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20종의 숫자가 한 파일에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섞여 있어 어느 쪽이 줄었는지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찾기 어렵다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41850" y="2286000"/>
            <a:ext cx="3307994" cy="3429000"/>
          </a:xfrm>
          <a:prstGeom prst="roundRect">
            <a:avLst>
              <a:gd name="adj" fmla="val 3317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61890" y="2606040"/>
            <a:ext cx="502920" cy="502920"/>
          </a:xfrm>
          <a:prstGeom prst="ellipse">
            <a:avLst/>
          </a:prstGeom>
          <a:solidFill>
            <a:srgbClr val="5468FF"/>
          </a:solidFill>
          <a:ln w="12700">
            <a:solidFill>
              <a:srgbClr val="5468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6189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761890" y="3291840"/>
            <a:ext cx="26679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지표를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봐야 한다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761890" y="4160520"/>
            <a:ext cx="266791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 · 방문 · 구매전환율 ·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ROAS 를 따로 보면 원인이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보인다. 함께 이어 봐야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69885" y="2286000"/>
            <a:ext cx="3307994" cy="3429000"/>
          </a:xfrm>
          <a:prstGeom prst="roundRect">
            <a:avLst>
              <a:gd name="adj" fmla="val 3317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89925" y="2606040"/>
            <a:ext cx="502920" cy="502920"/>
          </a:xfrm>
          <a:prstGeom prst="ellipse">
            <a:avLst/>
          </a:prstGeom>
          <a:solidFill>
            <a:srgbClr val="5468FF"/>
          </a:solidFill>
          <a:ln w="12700">
            <a:solidFill>
              <a:srgbClr val="5468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89925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89925" y="3291840"/>
            <a:ext cx="26679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 계산을 맡기면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위험하다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389925" y="4160520"/>
            <a:ext cx="266791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AI 가 직접 계산하면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틀리거나 지어낼 수 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입력에 같은 숫자가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나와야 한다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02</a:t>
            </a:r>
            <a:endParaRPr lang="en-US" sz="1100" dirty="0"/>
          </a:p>
        </p:txBody>
      </p:sp>
      <p:pic>
        <p:nvPicPr>
          <p:cNvPr id="21" name="Picture 20" descr="s2_chart_decrea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>
          <a:gsLst>
            <a:gs pos="0">
              <a:srgbClr val="131A2E"/>
            </a:gs>
            <a:gs pos="55000">
              <a:srgbClr val="1F2C6B"/>
            </a:gs>
            <a:gs pos="100000">
              <a:srgbClr val="3346C9"/>
            </a:gs>
          </a:gsLst>
          <a:lin ang="228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123444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DA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1645920"/>
            <a:ext cx="105640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계산은 코드, 해석은 AI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813816" y="3429000"/>
            <a:ext cx="502920" cy="502920"/>
          </a:xfrm>
          <a:prstGeom prst="ellipse">
            <a:avLst/>
          </a:prstGeom>
          <a:solidFill>
            <a:srgbClr val="9DAAFF"/>
          </a:solidFill>
          <a:ln w="12700">
            <a:solidFill>
              <a:srgbClr val="9DAA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4160520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코드가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13816" y="4663440"/>
            <a:ext cx="32470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공식으로 계산. 같은 입력이면 늘 같은 숫자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72330" y="3429000"/>
            <a:ext cx="502920" cy="502920"/>
          </a:xfrm>
          <a:prstGeom prst="ellipse">
            <a:avLst/>
          </a:prstGeom>
          <a:solidFill>
            <a:srgbClr val="9DAAFF"/>
          </a:solidFill>
          <a:ln w="12700">
            <a:solidFill>
              <a:srgbClr val="9DAA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7233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472330" y="4160520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는 결과만 받아서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472330" y="4663440"/>
            <a:ext cx="32470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계산된 결과를 해석할 뿐, 숫자를 다시 계산하지 않음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130845" y="3429000"/>
            <a:ext cx="502920" cy="502920"/>
          </a:xfrm>
          <a:prstGeom prst="ellipse">
            <a:avLst/>
          </a:prstGeom>
          <a:solidFill>
            <a:srgbClr val="9DAAFF"/>
          </a:solidFill>
          <a:ln w="12700">
            <a:solidFill>
              <a:srgbClr val="9DAA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30845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30845" y="4160520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사실과 추정을 나눠서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130845" y="4663440"/>
            <a:ext cx="32470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사실 / 원인 후보 / 실행 제안 / 한계를 따로 보여 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03</a:t>
            </a:r>
            <a:endParaRPr lang="en-US" sz="1100" dirty="0"/>
          </a:p>
        </p:txBody>
      </p:sp>
      <p:pic>
        <p:nvPicPr>
          <p:cNvPr id="18" name="Picture 17" descr="s3_light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566928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932688"/>
            <a:ext cx="10564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명이 한 흐름의 한 칸씩을 맡았다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148840"/>
          <a:ext cx="10564063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4023360"/>
                <a:gridCol w="398312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이지연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PM · 문서 · 저장소 관리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DevelopDoc · 병합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허규현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DB · 권한 · 결제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part2 · supabase · PR #4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김보겸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더미 데이터 · 정답 시나리오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 · docs · PR #1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김성순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 계산 · AI 분석 서버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part4 · analyze-shop · PR #2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이두규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대시보드 · 화면 디자인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part5 · PR #8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04</a:t>
            </a:r>
            <a:endParaRPr lang="en-US" sz="1100" dirty="0"/>
          </a:p>
        </p:txBody>
      </p:sp>
      <p:pic>
        <p:nvPicPr>
          <p:cNvPr id="7" name="Picture 6" descr="s4_bu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566928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932688"/>
            <a:ext cx="10564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5일: 정하고, 만들고, 합치고, 발표한다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3816" y="2240280"/>
            <a:ext cx="1951878" cy="2926080"/>
          </a:xfrm>
          <a:prstGeom prst="roundRect">
            <a:avLst>
              <a:gd name="adj" fmla="val 5622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9848" y="2514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5468FF"/>
          </a:solidFill>
          <a:ln w="12700">
            <a:solidFill>
              <a:srgbClr val="5468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69848" y="25146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일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69848" y="3063240"/>
            <a:ext cx="1439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9/28 월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3611880"/>
            <a:ext cx="1439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· 역할 정하기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틀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(DevelopDoc)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66862" y="2240280"/>
            <a:ext cx="1951878" cy="2926080"/>
          </a:xfrm>
          <a:prstGeom prst="roundRect">
            <a:avLst>
              <a:gd name="adj" fmla="val 5622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2894" y="2514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5468FF"/>
          </a:solidFill>
          <a:ln w="12700">
            <a:solidFill>
              <a:srgbClr val="5468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22894" y="25146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일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22894" y="3063240"/>
            <a:ext cx="1439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9/29 화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222894" y="3611880"/>
            <a:ext cx="1439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파트별 1차 완성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#1~#5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119908" y="2240280"/>
            <a:ext cx="1951878" cy="2926080"/>
          </a:xfrm>
          <a:prstGeom prst="roundRect">
            <a:avLst>
              <a:gd name="adj" fmla="val 5622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75940" y="2514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5468FF"/>
          </a:solidFill>
          <a:ln w="12700">
            <a:solidFill>
              <a:srgbClr val="5468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75940" y="25146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일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375940" y="3063240"/>
            <a:ext cx="1439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9/30 수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75940" y="3611880"/>
            <a:ext cx="1439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저장소로 모음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합치기 시험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연결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오류 원인 추적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272955" y="2240280"/>
            <a:ext cx="1951878" cy="2926080"/>
          </a:xfrm>
          <a:prstGeom prst="roundRect">
            <a:avLst>
              <a:gd name="adj" fmla="val 5622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28987" y="2514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5468FF"/>
          </a:solidFill>
          <a:ln w="12700">
            <a:solidFill>
              <a:srgbClr val="5468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28987" y="25146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일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528987" y="3063240"/>
            <a:ext cx="1439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 목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528987" y="3611880"/>
            <a:ext cx="1439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v2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기준 정리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병합 · 배포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자료 정리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426001" y="2240280"/>
            <a:ext cx="1951878" cy="2926080"/>
          </a:xfrm>
          <a:prstGeom prst="roundRect">
            <a:avLst>
              <a:gd name="adj" fmla="val 5622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82033" y="2514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82033" y="25146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682033" y="3063240"/>
            <a:ext cx="1439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 금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682033" y="3611880"/>
            <a:ext cx="1439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10시 제출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발표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05</a:t>
            </a:r>
            <a:endParaRPr lang="en-US" sz="1100" dirty="0"/>
          </a:p>
        </p:txBody>
      </p:sp>
      <p:pic>
        <p:nvPicPr>
          <p:cNvPr id="31" name="Picture 30" descr="s5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566928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932688"/>
            <a:ext cx="10564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 안에서 다섯 파트가 차례로 이어진다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3816" y="2240280"/>
            <a:ext cx="1732422" cy="2148840"/>
          </a:xfrm>
          <a:prstGeom prst="roundRect">
            <a:avLst>
              <a:gd name="adj" fmla="val 6334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96696" y="2468880"/>
            <a:ext cx="13666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96696" y="2807208"/>
            <a:ext cx="1366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96696" y="3319272"/>
            <a:ext cx="13666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Auth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가림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37678" y="3195828"/>
            <a:ext cx="292608" cy="237744"/>
          </a:xfrm>
          <a:prstGeom prst="rightArrow">
            <a:avLst/>
          </a:prstGeom>
          <a:solidFill>
            <a:srgbClr val="C9D1E0"/>
          </a:solidFill>
          <a:ln w="12700">
            <a:solidFill>
              <a:srgbClr val="C9D1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21726" y="2240280"/>
            <a:ext cx="1732422" cy="2148840"/>
          </a:xfrm>
          <a:prstGeom prst="roundRect">
            <a:avLst>
              <a:gd name="adj" fmla="val 6334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4606" y="2468880"/>
            <a:ext cx="13666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· 5번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204606" y="2807208"/>
            <a:ext cx="1366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올리기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204606" y="3319272"/>
            <a:ext cx="13666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파일을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개 한 번에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파일 안내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45588" y="3195828"/>
            <a:ext cx="292608" cy="237744"/>
          </a:xfrm>
          <a:prstGeom prst="rightArrow">
            <a:avLst/>
          </a:prstGeom>
          <a:solidFill>
            <a:srgbClr val="C9D1E0"/>
          </a:solidFill>
          <a:ln w="12700">
            <a:solidFill>
              <a:srgbClr val="C9D1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29636" y="2240280"/>
            <a:ext cx="1732422" cy="2148840"/>
          </a:xfrm>
          <a:prstGeom prst="roundRect">
            <a:avLst>
              <a:gd name="adj" fmla="val 6334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12516" y="2468880"/>
            <a:ext cx="13666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4번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12516" y="2807208"/>
            <a:ext cx="1366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계산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412516" y="3319272"/>
            <a:ext cx="13666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buildResult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· 채널별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경쟁가 진단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53499" y="3195828"/>
            <a:ext cx="292608" cy="237744"/>
          </a:xfrm>
          <a:prstGeom prst="rightArrow">
            <a:avLst/>
          </a:prstGeom>
          <a:solidFill>
            <a:srgbClr val="C9D1E0"/>
          </a:solidFill>
          <a:ln w="12700">
            <a:solidFill>
              <a:srgbClr val="C9D1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37547" y="2240280"/>
            <a:ext cx="1732422" cy="2148840"/>
          </a:xfrm>
          <a:prstGeom prst="roundRect">
            <a:avLst>
              <a:gd name="adj" fmla="val 6334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427" y="2468880"/>
            <a:ext cx="13666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5번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620427" y="2807208"/>
            <a:ext cx="1366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620427" y="3319272"/>
            <a:ext cx="13666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6칸 · 차트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· 계획 승인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261409" y="3195828"/>
            <a:ext cx="292608" cy="237744"/>
          </a:xfrm>
          <a:prstGeom prst="rightArrow">
            <a:avLst/>
          </a:prstGeom>
          <a:solidFill>
            <a:srgbClr val="C9D1E0"/>
          </a:solidFill>
          <a:ln w="12700">
            <a:solidFill>
              <a:srgbClr val="C9D1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645457" y="2240280"/>
            <a:ext cx="1732422" cy="2148840"/>
          </a:xfrm>
          <a:prstGeom prst="roundRect">
            <a:avLst>
              <a:gd name="adj" fmla="val 6334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28337" y="2468880"/>
            <a:ext cx="13666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4번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828337" y="2807208"/>
            <a:ext cx="1366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해석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9828337" y="3319272"/>
            <a:ext cx="13666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analyze-shop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한도 확인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키는 서버에만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13816" y="4800600"/>
            <a:ext cx="10564063" cy="868680"/>
          </a:xfrm>
          <a:prstGeom prst="roundRect">
            <a:avLst>
              <a:gd name="adj" fmla="val 12632"/>
            </a:avLst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133856" y="4800600"/>
            <a:ext cx="99239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는 </a:t>
            </a:r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[승인]을 누른 뒤에만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불리고, 계산이 끝난 결과만 받는다. 화면은 숫자를 다시 계산하지 않는다.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06</a:t>
            </a:r>
            <a:endParaRPr lang="en-US" sz="1100" dirty="0"/>
          </a:p>
        </p:txBody>
      </p:sp>
      <p:pic>
        <p:nvPicPr>
          <p:cNvPr id="32" name="Picture 31" descr="s6_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566928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데이터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932688"/>
            <a:ext cx="10564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미리 숨겨 둔 가상 쇼핑몰 데이터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27889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건강보조식품 20종을 파는 가상 쇼핑몰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채널 3개: 쿠팡 · 네이버스토어 · 자사몰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6~9월, 1주 단위, 총 1,200행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변수: 추석 · 공휴일 · 품절 · 할인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17336" y="2240280"/>
            <a:ext cx="5260543" cy="2926080"/>
          </a:xfrm>
          <a:prstGeom prst="roundRect">
            <a:avLst>
              <a:gd name="adj" fmla="val 3750"/>
            </a:avLst>
          </a:prstGeom>
          <a:solidFill>
            <a:srgbClr val="EEF1FF"/>
          </a:solidFill>
          <a:ln w="12700">
            <a:solidFill>
              <a:srgbClr val="D8DE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83096" y="2560320"/>
            <a:ext cx="45290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46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숨겨 둔 이야기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83096" y="3108960"/>
            <a:ext cx="452902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초 쿠팡에 경쟁 셀러가 등장해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인기 제품 8개를 9~13% 싸게 올렸다.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가격은 그대로 두고 쿠팡 광고비를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50% 늘렸지만, 쿠팡 구매전환율이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5.16% → 2.43%로 떨어졌다.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07  ·  출처: 3번 docs/part3_csv_input.md · part3_answer_scenario.md</a:t>
            </a:r>
            <a:endParaRPr lang="en-US" sz="1100" dirty="0"/>
          </a:p>
        </p:txBody>
      </p:sp>
      <p:pic>
        <p:nvPicPr>
          <p:cNvPr id="11" name="Picture 10" descr="s7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566928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찾아낸 숫자 · 9월, 전월 대비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932688"/>
            <a:ext cx="10564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하락은 쿠팡에 몰려 있었다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3816" y="2240280"/>
            <a:ext cx="2435276" cy="2331720"/>
          </a:xfrm>
          <a:prstGeom prst="roundRect">
            <a:avLst>
              <a:gd name="adj" fmla="val 4706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8136" y="2514600"/>
            <a:ext cx="1886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88136" y="2971800"/>
            <a:ext cx="1886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27,356,180원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088136" y="3886200"/>
            <a:ext cx="1886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-31.45% 하락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523412" y="2240280"/>
            <a:ext cx="2435276" cy="2331720"/>
          </a:xfrm>
          <a:prstGeom prst="roundRect">
            <a:avLst>
              <a:gd name="adj" fmla="val 4706"/>
            </a:avLst>
          </a:prstGeom>
          <a:gradFill rotWithShape="1">
            <a:gsLst>
              <a:gs pos="0">
                <a:srgbClr val="131A2E"/>
              </a:gs>
              <a:gs pos="55000">
                <a:srgbClr val="1F2C6B"/>
              </a:gs>
              <a:gs pos="100000">
                <a:srgbClr val="3346C9"/>
              </a:gs>
            </a:gsLst>
            <a:lin ang="2280000" scaled="0"/>
          </a:gra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7732" y="2514600"/>
            <a:ext cx="1886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하락액 중 쿠팡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797732" y="2971800"/>
            <a:ext cx="1886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92.7%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3797732" y="3886200"/>
            <a:ext cx="1886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DA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ROAS 2.97배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33008" y="2240280"/>
            <a:ext cx="2435276" cy="2331720"/>
          </a:xfrm>
          <a:prstGeom prst="roundRect">
            <a:avLst>
              <a:gd name="adj" fmla="val 4706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07328" y="2514600"/>
            <a:ext cx="1886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507328" y="2971800"/>
            <a:ext cx="1886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3.95배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3886200"/>
            <a:ext cx="1886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-44.30% 하락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942603" y="2240280"/>
            <a:ext cx="2435276" cy="2331720"/>
          </a:xfrm>
          <a:prstGeom prst="roundRect">
            <a:avLst>
              <a:gd name="adj" fmla="val 4706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16923" y="2514600"/>
            <a:ext cx="1886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구매전환율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216923" y="2971800"/>
            <a:ext cx="1886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2.99%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9216923" y="3886200"/>
            <a:ext cx="1886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-33.37% 하락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13816" y="4937760"/>
            <a:ext cx="105640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광고비는 </a:t>
            </a:r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+23.07%</a:t>
            </a:r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늘었고 방문은 </a:t>
            </a:r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+0.90%</a:t>
            </a:r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유지됐는데, 구매가 줄었다 — 유입이 아니라 전환이 문제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08  ·  3번 answer_key.json 과 전부 일치</a:t>
            </a:r>
            <a:endParaRPr lang="en-US" sz="1100" dirty="0"/>
          </a:p>
        </p:txBody>
      </p:sp>
      <p:pic>
        <p:nvPicPr>
          <p:cNvPr id="23" name="Picture 22" descr="s8_magnif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rotWithShape="1">
          <a:gsLst>
            <a:gs pos="0">
              <a:srgbClr val="131A2E"/>
            </a:gs>
            <a:gs pos="55000">
              <a:srgbClr val="1F2C6B"/>
            </a:gs>
            <a:gs pos="100000">
              <a:srgbClr val="3346C9"/>
            </a:gs>
          </a:gsLst>
          <a:lin ang="228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566928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DA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· 약 4분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932688"/>
            <a:ext cx="10564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번 클릭으로 끝까지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3816" y="2240280"/>
            <a:ext cx="457200" cy="457200"/>
          </a:xfrm>
          <a:prstGeom prst="ellipse">
            <a:avLst/>
          </a:prstGeom>
          <a:solidFill>
            <a:srgbClr val="9DAAFF"/>
          </a:solidFill>
          <a:ln w="12700">
            <a:solidFill>
              <a:srgbClr val="9DAA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53896" y="2221992"/>
            <a:ext cx="436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13816" y="3108960"/>
            <a:ext cx="457200" cy="457200"/>
          </a:xfrm>
          <a:prstGeom prst="ellipse">
            <a:avLst/>
          </a:prstGeom>
          <a:solidFill>
            <a:srgbClr val="9DAAFF"/>
          </a:solidFill>
          <a:ln w="12700">
            <a:solidFill>
              <a:srgbClr val="9DAA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53896" y="3090672"/>
            <a:ext cx="436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[예시 데이터로 시작] → KPI 6칸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3816" y="3977640"/>
            <a:ext cx="457200" cy="457200"/>
          </a:xfrm>
          <a:prstGeom prst="ellipse">
            <a:avLst/>
          </a:prstGeom>
          <a:solidFill>
            <a:srgbClr val="9DAAFF"/>
          </a:solidFill>
          <a:ln w="12700">
            <a:solidFill>
              <a:srgbClr val="9DAA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453896" y="3959352"/>
            <a:ext cx="436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채널별 ROAS · 쿠팡 경쟁가 진단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70168" y="2240280"/>
            <a:ext cx="457200" cy="457200"/>
          </a:xfrm>
          <a:prstGeom prst="ellipse">
            <a:avLst/>
          </a:prstGeom>
          <a:solidFill>
            <a:srgbClr val="9DAAFF"/>
          </a:solidFill>
          <a:ln w="12700">
            <a:solidFill>
              <a:srgbClr val="9DAA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7016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010248" y="2221992"/>
            <a:ext cx="436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"광고비는 늘었는데 왜 매출이 안 늘었어?" → 분석 계획 카드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70168" y="3108960"/>
            <a:ext cx="457200" cy="457200"/>
          </a:xfrm>
          <a:prstGeom prst="ellipse">
            <a:avLst/>
          </a:prstGeom>
          <a:solidFill>
            <a:srgbClr val="9DAAFF"/>
          </a:solidFill>
          <a:ln w="12700">
            <a:solidFill>
              <a:srgbClr val="9DAA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7016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010248" y="3090672"/>
            <a:ext cx="436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[승인하고 분석] → AI 답변 카드 · 실행 기록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370168" y="3977640"/>
            <a:ext cx="457200" cy="457200"/>
          </a:xfrm>
          <a:prstGeom prst="ellipse">
            <a:avLst/>
          </a:prstGeom>
          <a:solidFill>
            <a:srgbClr val="9DAAFF"/>
          </a:solidFill>
          <a:ln w="12700">
            <a:solidFill>
              <a:srgbClr val="9DAA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7016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010248" y="3959352"/>
            <a:ext cx="436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CSV 올리기 → 이유 안내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3816" y="5029200"/>
            <a:ext cx="10564063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133856" y="5029200"/>
            <a:ext cx="99239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주소: ctaleez51-art.github.io/sales-analysis/part5/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09</a:t>
            </a:r>
            <a:endParaRPr lang="en-US" sz="1100" dirty="0"/>
          </a:p>
        </p:txBody>
      </p:sp>
      <p:pic>
        <p:nvPicPr>
          <p:cNvPr id="26" name="Picture 25" descr="s9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566928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답변의 모양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932688"/>
            <a:ext cx="10564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답변: 사실과 원인 후보를 나눠 말한다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10</a:t>
            </a:r>
            <a:endParaRPr lang="en-US" sz="1100" dirty="0"/>
          </a:p>
        </p:txBody>
      </p:sp>
      <p:pic>
        <p:nvPicPr>
          <p:cNvPr id="19" name="Picture 18" descr="slide10_ai_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011680"/>
            <a:ext cx="6493621" cy="4206240"/>
          </a:xfrm>
          <a:prstGeom prst="rect">
            <a:avLst/>
          </a:prstGeom>
          <a:ln w="9525">
            <a:solidFill>
              <a:srgbClr val="E5E9F2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7627477" y="2103120"/>
            <a:ext cx="375040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6B45"/>
                </a:solidFill>
                <a:latin typeface="Malgun Gothic"/>
                <a:ea typeface="Malgun Gothic"/>
              </a:rPr>
              <a:t>실제 호출 · 12.2초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D3B33"/>
                </a:solidFill>
                <a:latin typeface="Malgun Gothic"/>
                <a:ea typeface="Malgun Gothic"/>
              </a:rPr>
              <a:t>9/30 16:58 · 로그인 계정 1회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2D3B33"/>
                </a:solidFill>
                <a:latin typeface="Malgun Gothic"/>
                <a:ea typeface="Malgun Gothic"/>
              </a:rPr>
              <a:t>4번 AI 서버 응답 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7477" y="3474720"/>
            <a:ext cx="375040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6B45"/>
                </a:solidFill>
                <a:latin typeface="Malgun Gothic"/>
                <a:ea typeface="Malgun Gothic"/>
              </a:rPr>
              <a:t>숫자 = 계산 결과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D3B33"/>
                </a:solidFill>
                <a:latin typeface="Malgun Gothic"/>
                <a:ea typeface="Malgun Gothic"/>
              </a:rPr>
              <a:t>31.5% · 32.8% · 33.4% · 8개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2D3B33"/>
                </a:solidFill>
                <a:latin typeface="Malgun Gothic"/>
                <a:ea typeface="Malgun Gothic"/>
              </a:rPr>
              <a:t>모두 정답표 값 그대로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7477" y="4846320"/>
            <a:ext cx="375040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6B45"/>
                </a:solidFill>
                <a:latin typeface="Malgun Gothic"/>
                <a:ea typeface="Malgun Gothic"/>
              </a:rPr>
              <a:t>원인은 '후보'로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D3B33"/>
                </a:solidFill>
                <a:latin typeface="Malgun Gothic"/>
                <a:ea typeface="Malgun Gothic"/>
              </a:rPr>
              <a:t>"인과관계는 확정할 수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2D3B33"/>
                </a:solidFill>
                <a:latin typeface="Malgun Gothic"/>
                <a:ea typeface="Malgun Gothic"/>
              </a:rPr>
              <a:t>없습니다"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7477" y="5897880"/>
            <a:ext cx="375040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4A5568"/>
                </a:solidFill>
                <a:latin typeface="Malgun Gothic"/>
                <a:ea typeface="Malgun Gothic"/>
              </a:rPr>
              <a:t>실제 응답 화면 · part5/REHEARSAL.md 9/30</a:t>
            </a:r>
          </a:p>
        </p:txBody>
      </p:sp>
      <p:pic>
        <p:nvPicPr>
          <p:cNvPr id="24" name="Picture 23" descr="s10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566928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932688"/>
            <a:ext cx="10564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"됐다"가 아니라 확인한 기록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148840"/>
          <a:ext cx="10564063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1828800"/>
                <a:gridCol w="160568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정확도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1,200행을 정답표와 대조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190 / 190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4번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권한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· B 계정 권한 테스트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/ 10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2번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잘못된 CSV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열 누락 · 숫자 칸 글자 · 빈 파일 · 이미지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4종 안내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5번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호출 통제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· 취소 후 AI 호출 횟수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5번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합치기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 5개를 함께 합쳐 보기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 없음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5번 확인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11  ·  출처: DevelopDoc/TECH_SPEC.md §8 · STEP_CHECKLIST.md</a:t>
            </a:r>
            <a:endParaRPr lang="en-US" sz="1100" dirty="0"/>
          </a:p>
        </p:txBody>
      </p:sp>
      <p:pic>
        <p:nvPicPr>
          <p:cNvPr id="13" name="Picture 12" descr="s11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566928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932688"/>
            <a:ext cx="10564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키는 서버에, 데이터는 본인 것만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3816" y="2286000"/>
            <a:ext cx="3307994" cy="3063240"/>
          </a:xfrm>
          <a:prstGeom prst="roundRect">
            <a:avLst>
              <a:gd name="adj" fmla="val 3582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33856" y="2606040"/>
            <a:ext cx="640080" cy="64008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33856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33856" y="3474720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키는 서버에만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133856" y="4069080"/>
            <a:ext cx="266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키 · 결제 비밀키는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Secret 에만.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브라우저에는 공개용 키만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41850" y="2286000"/>
            <a:ext cx="3307994" cy="3063240"/>
          </a:xfrm>
          <a:prstGeom prst="roundRect">
            <a:avLst>
              <a:gd name="adj" fmla="val 3582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61890" y="2606040"/>
            <a:ext cx="640080" cy="64008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6189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761890" y="3474720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데이터만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761890" y="4069080"/>
            <a:ext cx="266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의 행 단위 권한(RLS)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사람은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행만 읽고 쓴다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69885" y="2286000"/>
            <a:ext cx="3307994" cy="3063240"/>
          </a:xfrm>
          <a:prstGeom prst="roundRect">
            <a:avLst>
              <a:gd name="adj" fmla="val 3582"/>
            </a:avLst>
          </a:prstGeom>
          <a:gradFill rotWithShape="1">
            <a:gsLst>
              <a:gs pos="0">
                <a:srgbClr val="FFFFFF"/>
              </a:gs>
              <a:gs pos="45000">
                <a:srgbClr val="F0F2FF"/>
              </a:gs>
              <a:gs pos="100000">
                <a:srgbClr val="DDE3FF"/>
              </a:gs>
            </a:gsLst>
            <a:lin ang="4200000" scaled="0"/>
          </a:gradFill>
          <a:ln w="12700">
            <a:solidFill>
              <a:srgbClr val="E5E9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89925" y="2606040"/>
            <a:ext cx="640080" cy="64008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89925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6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&lt;/&gt;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389925" y="3474720"/>
            <a:ext cx="2667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글은 글자로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389925" y="4069080"/>
            <a:ext cx="266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답변에 태그가 섞여도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실행되지 않고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글자로만 보인다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12  ·  출처: PRD §8 · TECH_SPEC §7</a:t>
            </a:r>
            <a:endParaRPr lang="en-US" sz="1100" dirty="0"/>
          </a:p>
        </p:txBody>
      </p:sp>
      <p:pic>
        <p:nvPicPr>
          <p:cNvPr id="21" name="Picture 20" descr="s12_lo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566928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알려진 한계와 다음 단계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932688"/>
            <a:ext cx="10564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안 된 것도 숨기지 않는다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148840"/>
          <a:ext cx="10564063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44616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한계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단계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완료 (9/30) — 로그인 상태로 AI 분석 끝까지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 · 12.2초 (400 원인: 키 크레딧 0 → 키 교체)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답변이 정해진 형식 없이 글로 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 · 원인 후보 · 제안 · 한계 형식으로 받기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결제는 아직 붙이지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토스 테스트 결제 왕복 (U03)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결과 저장 · 다른 계정 거부 확인 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연결 뒤 B→A 거부 테스트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개발용으로 이메일 인증을 꺼 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실서비스 전환 때 인증 + 메일 서버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3816" y="632764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M1팀 · 매출분석 툴 · 13  ·  출처: PRD §13 · TECH_SPEC §9 · WORK_UNITS</a:t>
            </a:r>
            <a:endParaRPr lang="en-US" sz="1100" dirty="0"/>
          </a:p>
        </p:txBody>
      </p:sp>
      <p:pic>
        <p:nvPicPr>
          <p:cNvPr id="15" name="Picture 14" descr="s13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rotWithShape="1">
          <a:gsLst>
            <a:gs pos="0">
              <a:srgbClr val="131A2E"/>
            </a:gs>
            <a:gs pos="55000">
              <a:srgbClr val="1F2C6B"/>
            </a:gs>
            <a:gs pos="100000">
              <a:srgbClr val="3346C9"/>
            </a:gs>
          </a:gsLst>
          <a:lin ang="228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1828800"/>
            <a:ext cx="105640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5F7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2926080"/>
            <a:ext cx="105640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받겠습니다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4023360"/>
            <a:ext cx="105640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DA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 github.com/ctaleez51-art/sales-analysis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4480560"/>
            <a:ext cx="105640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 ctaleez51-art.github.io/sales-analysis/part5/</a:t>
            </a:r>
            <a:endParaRPr lang="en-US" sz="1500" dirty="0"/>
          </a:p>
        </p:txBody>
      </p:sp>
      <p:pic>
        <p:nvPicPr>
          <p:cNvPr id="7" name="Picture 6" descr="s14_folded_ha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2743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매출분석 툴 — M1팀 발표</dc:title>
  <dc:subject>PptxGenJS Presentation</dc:subject>
  <dc:creator>M1팀</dc:creator>
  <cp:lastModifiedBy>M1팀</cp:lastModifiedBy>
  <cp:revision>1</cp:revision>
  <dcterms:created xsi:type="dcterms:W3CDTF">2026-09-29T08:34:16Z</dcterms:created>
  <dcterms:modified xsi:type="dcterms:W3CDTF">2026-09-29T08:34:16Z</dcterms:modified>
</cp:coreProperties>
</file>